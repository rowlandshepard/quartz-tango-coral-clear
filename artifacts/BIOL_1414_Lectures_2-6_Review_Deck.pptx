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BIOL 1414  ·  LECTURES 2–6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436815" y="502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Exam review  ·  Fall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Combined </a:t>
            </a:r>
            <a:pPr indent="0" marL="0">
              <a:buNone/>
            </a:pPr>
            <a:r>
              <a:rPr lang="en-US" sz="54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</a:t>
            </a:r>
            <a:pPr indent="0" marL="0">
              <a:buNone/>
            </a:pPr>
            <a:r>
              <a:rPr lang="en-US" sz="5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Scientific method  →  life &amp; organization  →  chemistry  →  macromolecules  →  cells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Pair this deck with the quiz bank and flashcard workbook.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00  —  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ROADMAP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881360" cy="13716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this unit </a:t>
            </a:r>
            <a:pPr indent="0" marL="0">
              <a:buNone/>
            </a:pPr>
            <a:r>
              <a:rPr lang="en-US" sz="2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covers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11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Method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301752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Hypothesis, variables, theory vs law, peer review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80360" y="182880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2011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71800" y="2423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Life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017520" y="301752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Eight criteria, IMRaD, organization hierarchy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120640" y="182880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2011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0" y="2423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Chemistry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57800" y="301752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Atoms, isotopes, bonds, water polarity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60920" y="182880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2011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52360" y="2423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Molecules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98080" y="301752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Dehydration / hydrolysis; four macromolecules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601200" y="182880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0" y="2011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92640" y="2423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Cells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738360" y="301752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Cell theory, organelles, cytoskeleton, junctions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 —  SCIENTIFIC METHOD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METHOD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881360" cy="13716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Science is a </a:t>
            </a:r>
            <a:pPr indent="0" marL="0">
              <a:buNone/>
            </a:pPr>
            <a:r>
              <a:rPr lang="en-US" sz="2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cycle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1481328" cy="640080"/>
          </a:xfrm>
          <a:prstGeom prst="roundRect">
            <a:avLst>
              <a:gd name="adj" fmla="val 8571"/>
            </a:avLst>
          </a:prstGeom>
          <a:solidFill>
            <a:srgbClr val="8FA67E"/>
          </a:solidFill>
          <a:ln w="12700">
            <a:solidFill>
              <a:srgbClr val="F1E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373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Observe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40280" y="1645920"/>
            <a:ext cx="1481328" cy="640080"/>
          </a:xfrm>
          <a:prstGeom prst="roundRect">
            <a:avLst>
              <a:gd name="adj" fmla="val 8571"/>
            </a:avLst>
          </a:prstGeom>
          <a:solidFill>
            <a:srgbClr val="1F3DA8"/>
          </a:solidFill>
          <a:ln w="12700">
            <a:solidFill>
              <a:srgbClr val="F1EC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17373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Question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0" y="1645920"/>
            <a:ext cx="1481328" cy="640080"/>
          </a:xfrm>
          <a:prstGeom prst="roundRect">
            <a:avLst>
              <a:gd name="adj" fmla="val 8571"/>
            </a:avLst>
          </a:prstGeom>
          <a:solidFill>
            <a:srgbClr val="8FA67E"/>
          </a:solidFill>
          <a:ln w="12700">
            <a:solidFill>
              <a:srgbClr val="F1EC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7373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Hypothesis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40680" y="1645920"/>
            <a:ext cx="1481328" cy="640080"/>
          </a:xfrm>
          <a:prstGeom prst="roundRect">
            <a:avLst>
              <a:gd name="adj" fmla="val 8571"/>
            </a:avLst>
          </a:prstGeom>
          <a:solidFill>
            <a:srgbClr val="1F3DA8"/>
          </a:solidFill>
          <a:ln w="12700">
            <a:solidFill>
              <a:srgbClr val="F1EC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17373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Experiment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40880" y="1645920"/>
            <a:ext cx="1481328" cy="640080"/>
          </a:xfrm>
          <a:prstGeom prst="roundRect">
            <a:avLst>
              <a:gd name="adj" fmla="val 8571"/>
            </a:avLst>
          </a:prstGeom>
          <a:solidFill>
            <a:srgbClr val="8FA67E"/>
          </a:solidFill>
          <a:ln w="12700">
            <a:solidFill>
              <a:srgbClr val="F1EC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17373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41080" y="1645920"/>
            <a:ext cx="1481328" cy="640080"/>
          </a:xfrm>
          <a:prstGeom prst="roundRect">
            <a:avLst>
              <a:gd name="adj" fmla="val 8571"/>
            </a:avLst>
          </a:prstGeom>
          <a:solidFill>
            <a:srgbClr val="1F3DA8"/>
          </a:solidFill>
          <a:ln w="12700">
            <a:solidFill>
              <a:srgbClr val="F1EC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1080" y="17373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241280" y="1645920"/>
            <a:ext cx="1481328" cy="640080"/>
          </a:xfrm>
          <a:prstGeom prst="roundRect">
            <a:avLst>
              <a:gd name="adj" fmla="val 8571"/>
            </a:avLst>
          </a:prstGeom>
          <a:solidFill>
            <a:srgbClr val="8FA67E"/>
          </a:solidFill>
          <a:ln w="12700">
            <a:solidFill>
              <a:srgbClr val="F1EC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0" y="17373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2514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hypothesis must be testable and falsifiable. Science never proves — it fails to disprove and accumulates support.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310896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246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Independent variable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3611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you change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389120" y="310896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3246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Dependent variable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0" y="3611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you measure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138160" y="310896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3246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 group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21040" y="3611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setup minus the tested factor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" y="434340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4480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Controlled variables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2960" y="4846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Held constant on purpose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389120" y="434340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4480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Qualitative data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0" y="4846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Descriptions (color, texture)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138160" y="434340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1040" y="4480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Quantitative data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321040" y="4846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Numbers (mass, count, °C)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 —  CLAIMS IN SCIENCE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METHOD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881360" cy="13716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 not mix up </a:t>
            </a:r>
            <a:pPr indent="0" marL="0">
              <a:buNone/>
            </a:pPr>
            <a:r>
              <a:rPr lang="en-US" sz="2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hypothesis, theory, law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74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Hypothesis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23774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proposed explanation that can be tested and potentially shown false.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874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Theory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23774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repeatedly supported explanatory framework. Not a casual guess.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38160" y="169164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874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Law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66760" y="23774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description of what always happens. Does not explain why.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Inductive: specific observations → general idea.   Deductive: general principle → specific prediction.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846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Peer-reviewed papers reach the largest audience. Fleming’s penicillin became science because he tested the accident.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 —  WHAT IS LIFE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LIFE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881360" cy="13716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Eight criteria — </a:t>
            </a:r>
            <a:pPr indent="0" marL="0">
              <a:buNone/>
            </a:pPr>
            <a:r>
              <a:rPr lang="en-US" sz="2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required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8562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Organization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74720" y="169164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18562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39312" y="216712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Metabolism / energy use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09360" y="169164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18562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73952" y="216712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Homeostasis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4000" y="169164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08592" y="18562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08592" y="216712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Reproduction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32735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" y="35844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Growth &amp; development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474720" y="310896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9312" y="32735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39312" y="35844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Irritability (stimuli)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09360" y="310896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32735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73952" y="35844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Adaptation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144000" y="310896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08592" y="32735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308592" y="35844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Evolution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 —  SCALE AND PAPERS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LIFE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881360" cy="13716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Hierarchy + </a:t>
            </a:r>
            <a:pPr indent="0" marL="0">
              <a:buNone/>
            </a:pPr>
            <a:r>
              <a:rPr lang="en-US" sz="2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read a paper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Atom → molecule → organelle → cell → tissue → organ → organ system → organism → population → community → ecosystem → biosphere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51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Abstract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Miniature of the whole paper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24688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651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3108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Unknown question; broad → narrow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24688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651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Methods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21040" y="3108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Enough detail to replicate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06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4663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was found (data)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89120" y="40233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4206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Discussion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0" y="4663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it means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38160" y="40233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4206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 paper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21040" y="4663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Summarizes many studies; not IMRaD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 —  ATOMS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CHEMISTRY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881360" cy="13716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particles, </a:t>
            </a:r>
            <a:pPr indent="0" marL="0">
              <a:buNone/>
            </a:pPr>
            <a:r>
              <a:rPr lang="en-US" sz="2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numbers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4767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0" y="19476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+1  ·  ~1 amu  ·  nucleus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9923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Neutron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00400" y="29992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  ·  ~1 amu  ·  nucleus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05079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Electron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00400" y="405079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−1  ·  negligible mass  ·  orbitals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589520" y="1691640"/>
            <a:ext cx="3931920" cy="3977640"/>
          </a:xfrm>
          <a:prstGeom prst="roundRect">
            <a:avLst>
              <a:gd name="adj" fmla="val 1860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1920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Remember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18120" y="233172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Atomic number = protons.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Mass number = protons + neutrons.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Isotopes: same protons, different neutrons.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Atomic mass = weighted average of isotopes.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 —  BONDS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CHEMISTRY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881360" cy="13716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atoms </a:t>
            </a:r>
            <a:pPr indent="0" marL="0">
              <a:buNone/>
            </a:pPr>
            <a:r>
              <a:rPr lang="en-US" sz="2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stick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10972800" cy="987552"/>
          </a:xfrm>
          <a:prstGeom prst="roundRect">
            <a:avLst>
              <a:gd name="adj" fmla="val 7407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562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Ionic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83280" y="1801368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Transfer electrons. Cation +, anion −. Example: NaCl. Electrolytes run nerves and muscle.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10972800" cy="987552"/>
          </a:xfrm>
          <a:prstGeom prst="roundRect">
            <a:avLst>
              <a:gd name="adj" fmla="val 7407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535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Covalent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2898648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Share electrons. Strongest common bond in living chemistry. Single / double / triple.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10972800" cy="987552"/>
          </a:xfrm>
          <a:prstGeom prst="roundRect">
            <a:avLst>
              <a:gd name="adj" fmla="val 7407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0507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Polar covalent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3995928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Unequal sharing. Water: O is δ−, H is δ+.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10972800" cy="987552"/>
          </a:xfrm>
          <a:prstGeom prst="roundRect">
            <a:avLst>
              <a:gd name="adj" fmla="val 7407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1480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Hydrogen bond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83280" y="5093208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Weak attraction between molecules, not inside one molecule. Holds water to water.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 —  WATER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CHEMISTRY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881360" cy="13716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water </a:t>
            </a:r>
            <a:pPr indent="0" marL="0">
              <a:buNone/>
            </a:pPr>
            <a:r>
              <a:rPr lang="en-US" sz="2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rules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6596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Polar, no net charge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Unequal sharing creates poles without making an ion.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96596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Cohesion / adhesion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251460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Water sticks to water and to other polar surfaces.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93192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Solvent of life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48056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Dissolves ions and polar molecules; lipids stay insoluble.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0" y="365760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93192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N2 puzzle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83680" y="448056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Air is ~78% N2, but the triple bond is hard to break — biologically limiting.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 —  FOUR CLASSES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MOLECULES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881360" cy="13716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Dry mass of the cell is </a:t>
            </a:r>
            <a:pPr indent="0" marL="0">
              <a:buNone/>
            </a:pPr>
            <a:r>
              <a:rPr lang="en-US" sz="2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organic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659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Carbohydrates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Energy + structure. (CH2O)n. Glucose is the main human fuel.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0" y="173736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9659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Lipids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11880" y="288036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Storage, membranes, insulation. Hydrophobic.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173736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9659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Proteins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288036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Enzymes, structure, contraction. Shape = function.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0" y="173736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19659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Nucleic acids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281160" y="288036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DNA / RNA store and express instructions for proteins.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 —  BUILD AND BREAK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MOLECULES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881360" cy="13716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Dehydration vs </a:t>
            </a:r>
            <a:pPr indent="0" marL="0">
              <a:buNone/>
            </a:pPr>
            <a:r>
              <a:rPr lang="en-US" sz="2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hydrolysis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3931920"/>
          </a:xfrm>
          <a:prstGeom prst="roundRect">
            <a:avLst>
              <a:gd name="adj" fmla="val 1860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20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Dehydration synthesis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Monomers join.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Water is released.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Energy is required.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Builds polymers (peptide, glycosidic bonds).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9202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Hydrolysis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37960" y="2468880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Water is inserted across a bond.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Polymer splits.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Energy is released.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Enzymes catalyze both directions (protease, lipase).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 —  DETAILS THAT SHOW 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MOLECULES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881360" cy="13716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Pairs to </a:t>
            </a:r>
            <a:pPr indent="0" marL="0">
              <a:buNone/>
            </a:pPr>
            <a:r>
              <a:rPr lang="en-US" sz="2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memorize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Lactose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155448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Glucose + galactose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Starch / glycogen / cellulose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21031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glucose; different links → store vs fiber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Phospholipid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265176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tails + phosphate head = membrane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200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Triglyceride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320040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fatty acids + glycerol = storage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Peptide bond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4880" y="374904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Links amino acids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297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Primary → tertiary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429768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Sequence → 3-D fold (shape = function)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4846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Nucleotide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54880" y="48463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Sugar + phosphate + base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5394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DNA vs RNA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54880" y="539496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 + double helix vs U + usually single strand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 —  CELL THEORY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CELLS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881360" cy="13716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statements, </a:t>
            </a:r>
            <a:pPr indent="0" marL="0">
              <a:buNone/>
            </a:pPr>
            <a:r>
              <a:rPr lang="en-US" sz="2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tools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6858000" cy="841248"/>
          </a:xfrm>
          <a:prstGeom prst="roundRect">
            <a:avLst>
              <a:gd name="adj" fmla="val 8696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182880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living things are made of one or more cells.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6858000" cy="841248"/>
          </a:xfrm>
          <a:prstGeom prst="roundRect">
            <a:avLst>
              <a:gd name="adj" fmla="val 8696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278892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cell is the basic unit of life.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566160"/>
            <a:ext cx="6858000" cy="841248"/>
          </a:xfrm>
          <a:prstGeom prst="roundRect">
            <a:avLst>
              <a:gd name="adj" fmla="val 8696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374904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New cells arise from existing cells.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26680" y="1645920"/>
            <a:ext cx="3840480" cy="3794760"/>
          </a:xfrm>
          <a:prstGeom prst="roundRect">
            <a:avLst>
              <a:gd name="adj" fmla="val 1928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1874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Microscopes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55280" y="233172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Light (lab): 40×–1000×, inverted image, often needs stain.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Electron (research): higher resolution, large, expensive.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 —  CELL TYPES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CELLS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881360" cy="13716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Split the </a:t>
            </a:r>
            <a:pPr indent="0" marL="0">
              <a:buNone/>
            </a:pPr>
            <a:r>
              <a:rPr lang="en-US" sz="2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categories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745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Prokaryote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nucleus (nucleoid). No membrane organelles. Generally smaller. Bacteria, archaea.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164592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8745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Eukaryote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237744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True nucleus. Membrane organelles. Generally larger. Animals, plants, fungi, protists.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97764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Plant extras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48056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Cell wall, chloroplasts, large central vacuole, plasmodesmata.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0" y="374904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97764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Animal extras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83680" y="448056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Lysosomes emphasized, centrioles, extracellular matrix, no wall.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 —  ENDOMEMBRANE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CELLS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881360" cy="13716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cell’s </a:t>
            </a:r>
            <a:pPr indent="0" marL="0">
              <a:buNone/>
            </a:pPr>
            <a:r>
              <a:rPr lang="en-US" sz="2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shipping network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Rough 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Ribosomes. Proteins for secretion or membranes.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16459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Smooth 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3774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Lipids, detox, Ca2+ storage.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6459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Golgi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21040" y="23774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Sorts, tags, packages, ships. Plant wall sugars. Huge in secretory cells.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977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Lysosome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448056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Digests and helps destroy pathogens in animals.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89120" y="37490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977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Mitochondrion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0" y="448056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Energy conversion (both plant and animal).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138160" y="37490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3977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Nucleus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21040" y="448056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Houses DNA; nuclear envelope is part of the system.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 —  SHAPE AND CONTACT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CELLS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881360" cy="13716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Fibers and </a:t>
            </a:r>
            <a:pPr indent="0" marL="0">
              <a:buNone/>
            </a:pPr>
            <a:r>
              <a:rPr lang="en-US" sz="2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junctions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28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Microfilaments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194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Narrowest. Cell movement (WBCs).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00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Intermediate filaments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3566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Structure. Keratin in hair and nails.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38912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572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Microtubules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937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Widest, hollow. Cilia, flagella, centrioles.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55080" y="1645920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75564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Plasmodesmata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208483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Plant cytoplasmic channels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2679192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278892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Tight junction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311810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Watertight seal (skin, bladder)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55080" y="3712464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38221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Desmosome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37960" y="415137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Spot-weld for stretch (heart, skin)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55080" y="4745736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485546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Gap junction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37960" y="518464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Animal channel; cardiac sync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  —  CONTRASTS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881360" cy="13716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you only drill </a:t>
            </a:r>
            <a:pPr indent="0" marL="0">
              <a:buNone/>
            </a:pPr>
            <a:r>
              <a:rPr lang="en-US" sz="2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ten pairs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6002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Hypothesis / theory / law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4231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Independent / dependent variable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32461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Cation / anion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0690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40690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Ionic / covalent / hydrogen bond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8920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8920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Dehydration / hydrolysis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16002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9440" y="16002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Starch / glycogen / cellulose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24231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24231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DNA / RNA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32461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32461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Prokaryote / eukaryote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40690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40690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Plant cell / animal cell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09360" y="48920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49440" y="48920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Tight junction / gap junction / desmosome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PRACTICE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658368"/>
            <a:ext cx="10881360" cy="13716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046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use the </a:t>
            </a:r>
            <a:pPr indent="0" marL="0">
              <a:buNone/>
            </a:pPr>
            <a:r>
              <a:rPr lang="en-US" sz="2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rest of the kit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10972800" cy="932688"/>
          </a:xfrm>
          <a:prstGeom prst="roundRect">
            <a:avLst>
              <a:gd name="adj" fmla="val 7843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0195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Quiz bank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66160" y="190195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Take one lecture set closed-note. Then take the mixed exam.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10972800" cy="932688"/>
          </a:xfrm>
          <a:prstGeom prst="roundRect">
            <a:avLst>
              <a:gd name="adj" fmla="val 7843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5351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95351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Filter Compare cards first. Mark Know it? after each pass.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10972800" cy="932688"/>
          </a:xfrm>
          <a:prstGeom prst="roundRect">
            <a:avLst>
              <a:gd name="adj" fmla="val 7843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00507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Study packet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400507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 prose guides if a slide here is too compressed.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10972800" cy="932688"/>
          </a:xfrm>
          <a:prstGeom prst="roundRect">
            <a:avLst>
              <a:gd name="adj" fmla="val 7843"/>
            </a:avLst>
          </a:prstGeom>
          <a:solidFill>
            <a:srgbClr val="E8E2D4"/>
          </a:solidFill>
          <a:ln w="12700">
            <a:solidFill>
              <a:srgbClr val="E8E2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0566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Coming lecture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66160" y="505663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Plasma membranes — Chapter 5.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 1414 Combined Review — Lectures 2–6</dc:title>
  <dc:subject>PptxGenJS Presentation</dc:subject>
  <dc:creator>BIOL 1414</dc:creator>
  <cp:lastModifiedBy>BIOL 1414</cp:lastModifiedBy>
  <cp:revision>1</cp:revision>
  <dcterms:created xsi:type="dcterms:W3CDTF">2026-09-18T20:51:38Z</dcterms:created>
  <dcterms:modified xsi:type="dcterms:W3CDTF">2026-09-18T20:51:38Z</dcterms:modified>
</cp:coreProperties>
</file>